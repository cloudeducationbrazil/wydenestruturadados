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mailto:vagnerpimentel@gmail.com" TargetMode="External"/><Relationship Id="rId4" Type="http://schemas.openxmlformats.org/officeDocument/2006/relationships/hyperlink" Target="mailto:vagner.pereira@professores.uniruy.edu.b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1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897558"/>
            <a:ext cx="2019300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497633"/>
            <a:ext cx="9201150" cy="157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1E1E1E"/>
                </a:solidFill>
                <a:latin typeface="Montserrat"/>
              </a:rPr>
              <a:t>INTRODUÇÃO À SEGURANÇA DA INFORMAÇÃO</a:t>
            </a:r>
            <a:r>
              <a:t>
</a:t>
            </a:r>
            <a:r>
              <a:rPr sz="3600" b="1" i="0" u="none">
                <a:solidFill>
                  <a:srgbClr val="C41230"/>
                </a:solidFill>
                <a:latin typeface="Montserrat"/>
              </a:rPr>
              <a:t>(WYD6710)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07991"/>
            <a:ext cx="4772025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Open Sans SemiBold"/>
              </a:rPr>
              <a:t>Prof. de </a:t>
            </a:r>
            <a:r>
              <a:rPr sz="1650" b="0" i="0" u="none" dirty="0" err="1">
                <a:solidFill>
                  <a:srgbClr val="475569"/>
                </a:solidFill>
                <a:latin typeface="Open Sans SemiBold"/>
              </a:rPr>
              <a:t>Segurança</a:t>
            </a:r>
            <a:r>
              <a:rPr sz="1650" b="0" i="0" u="none" dirty="0">
                <a:solidFill>
                  <a:srgbClr val="475569"/>
                </a:solidFill>
                <a:latin typeface="Open Sans SemiBold"/>
              </a:rPr>
              <a:t> da </a:t>
            </a:r>
            <a:r>
              <a:rPr sz="1650" b="0" i="0" u="none" dirty="0" err="1">
                <a:solidFill>
                  <a:srgbClr val="475569"/>
                </a:solidFill>
                <a:latin typeface="Open Sans SemiBold"/>
              </a:rPr>
              <a:t>Informação</a:t>
            </a:r>
            <a:r>
              <a:rPr sz="1650" b="0" i="0" u="none" dirty="0">
                <a:solidFill>
                  <a:srgbClr val="475569"/>
                </a:solidFill>
                <a:latin typeface="Open Sans SemiBold"/>
              </a:rPr>
              <a:t> </a:t>
            </a:r>
            <a:r>
              <a:rPr sz="1650" b="0" i="0" u="none" dirty="0">
                <a:solidFill>
                  <a:srgbClr val="6B1D5C"/>
                </a:solidFill>
                <a:latin typeface="Open Sans"/>
              </a:rPr>
              <a:t> </a:t>
            </a:r>
            <a:r>
              <a:rPr lang="pt-BR" sz="1650" dirty="0" err="1">
                <a:solidFill>
                  <a:srgbClr val="6B1D5C"/>
                </a:solidFill>
                <a:latin typeface="Open Sans"/>
                <a:hlinkClick r:id="rId4"/>
              </a:rPr>
              <a:t>vagner</a:t>
            </a:r>
            <a:r>
              <a:rPr sz="1650" b="0" i="0" u="none" dirty="0">
                <a:solidFill>
                  <a:srgbClr val="6B1D5C"/>
                </a:solidFill>
                <a:latin typeface="Open Sans"/>
                <a:hlinkClick r:id="rId4"/>
              </a:rPr>
              <a:t>.</a:t>
            </a:r>
            <a:r>
              <a:rPr lang="pt-BR" sz="1650" b="0" i="0" u="none" dirty="0">
                <a:solidFill>
                  <a:srgbClr val="6B1D5C"/>
                </a:solidFill>
                <a:latin typeface="Open Sans"/>
                <a:hlinkClick r:id="rId4"/>
              </a:rPr>
              <a:t>pereira</a:t>
            </a:r>
            <a:r>
              <a:rPr sz="1650" b="0" i="0" u="none" dirty="0">
                <a:solidFill>
                  <a:srgbClr val="6B1D5C"/>
                </a:solidFill>
                <a:latin typeface="Open Sans"/>
                <a:hlinkClick r:id="rId4"/>
              </a:rPr>
              <a:t>@professores.uniruy.edu.br</a:t>
            </a:r>
            <a:r>
              <a:rPr lang="pt-BR" sz="1650" b="0" i="0" u="none" dirty="0">
                <a:solidFill>
                  <a:srgbClr val="6B1D5C"/>
                </a:solidFill>
                <a:latin typeface="Open Sans"/>
              </a:rPr>
              <a:t>;</a:t>
            </a:r>
          </a:p>
          <a:p>
            <a:pPr algn="l"/>
            <a:r>
              <a:rPr lang="pt-BR" sz="1650" dirty="0">
                <a:solidFill>
                  <a:srgbClr val="6B1D5C"/>
                </a:solidFill>
                <a:latin typeface="Open Sans"/>
                <a:hlinkClick r:id="rId5"/>
              </a:rPr>
              <a:t>vagnerpimentel@gmail.com</a:t>
            </a:r>
            <a:endParaRPr lang="pt-BR" sz="1650" dirty="0">
              <a:solidFill>
                <a:srgbClr val="6B1D5C"/>
              </a:solidFill>
              <a:latin typeface="Open Sans"/>
            </a:endParaRPr>
          </a:p>
          <a:p>
            <a:pPr algn="l"/>
            <a:endParaRPr lang="pt-BR" sz="1650" dirty="0">
              <a:solidFill>
                <a:srgbClr val="6B1D5C"/>
              </a:solidFill>
              <a:latin typeface="Open San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709200"/>
            <a:ext cx="152400" cy="152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500" y="381000"/>
            <a:ext cx="3048000" cy="381000"/>
          </a:xfrm>
          <a:prstGeom prst="roundRect">
            <a:avLst>
              <a:gd name="adj" fmla="val 10000"/>
            </a:avLst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0" y="857250"/>
            <a:ext cx="4286250" cy="381000"/>
          </a:xfrm>
          <a:prstGeom prst="roundRect">
            <a:avLst>
              <a:gd name="adj" fmla="val 10000"/>
            </a:avLst>
          </a:prstGeom>
          <a:solidFill>
            <a:srgbClr val="6B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48750" y="1333500"/>
            <a:ext cx="1428750" cy="28575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38437"/>
            <a:ext cx="23812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1100" y="2724150"/>
            <a:ext cx="4095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1. Sempre trazer caderno ou computador / notebook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738437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4175" y="2724150"/>
            <a:ext cx="30003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2. Entregar listas e atividades no prazo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414712"/>
            <a:ext cx="1428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3400425"/>
            <a:ext cx="30099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3. Evitar ficar no celular durante a 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400425"/>
            <a:ext cx="2362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4. Não levar dúvidas para casa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09098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3475" y="4076700"/>
            <a:ext cx="26193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5. Não tirar foto do(a) professor(a)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90987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86550" y="4076700"/>
            <a:ext cx="32194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6. Abono de faltas somente com atestado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767262"/>
            <a:ext cx="1428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5850" y="4752975"/>
            <a:ext cx="2333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7. Sem aproximação de média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767262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2750" y="4752975"/>
            <a:ext cx="30289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Open Sans SemiBold"/>
              </a:rPr>
              <a:t>8. Sem conversa paralela na explicação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476250"/>
            <a:ext cx="11131391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REGRAS DA DISCIPLINA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45456"/>
            <a:ext cx="3555950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745456"/>
            <a:ext cx="3555950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745456"/>
            <a:ext cx="3556099" cy="211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50506"/>
            <a:ext cx="5429250" cy="1900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050506"/>
            <a:ext cx="5429250" cy="19002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33400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983581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612231"/>
            <a:ext cx="32336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Simulado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936081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Avaliação formativa individual de nivelamento inicial.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3408268"/>
            <a:ext cx="581025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6075" y="1983581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6075" y="2612231"/>
            <a:ext cx="32336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Simulado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2936081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Acompanhamento e preparação para a Prova Integrada.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075" y="3426618"/>
            <a:ext cx="581025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2525" y="1983581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02525" y="2612231"/>
            <a:ext cx="323384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Atividades Práticas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5" y="2936081"/>
            <a:ext cx="30798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Estudos de caso e simulação em laboratório de segurança.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3000" y="3396782"/>
            <a:ext cx="9715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288631"/>
            <a:ext cx="476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8200" y="4917281"/>
            <a:ext cx="51706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Avaliação Oficial (AV)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241131"/>
            <a:ext cx="49244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Prova Nacional Integrada (PNI) cobrindo todo o conteúdo da disciplina.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5481637"/>
            <a:ext cx="581025" cy="257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7950" y="4288631"/>
            <a:ext cx="476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7950" y="4917281"/>
            <a:ext cx="517064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Avaliação Substitutiva (AVS)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5241131"/>
            <a:ext cx="49244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Prova substitutiva oficial para recuperação da nota da AV.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9854" y="5481637"/>
            <a:ext cx="581025" cy="2571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2975" y="2116931"/>
            <a:ext cx="2095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9425" y="2116931"/>
            <a:ext cx="20955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5875" y="2116931"/>
            <a:ext cx="2095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2975" y="4421981"/>
            <a:ext cx="26670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1300" y="4421981"/>
            <a:ext cx="2095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7275" y="476250"/>
            <a:ext cx="11091386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AVALIAÇÕES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7450"/>
            <a:ext cx="5429250" cy="2781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57450"/>
            <a:ext cx="5429250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80035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524250"/>
            <a:ext cx="498062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1E1E"/>
                </a:solidFill>
                <a:latin typeface="Montserrat"/>
              </a:rPr>
              <a:t>Semana de Tecnologia &amp; Engenharia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5725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64748B"/>
                </a:solidFill>
                <a:latin typeface="Open Sans"/>
              </a:rPr>
              <a:t>Semana especial com palestras, workshops, minicursos práticos e mostra de trabalhos acadêmicos.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572000"/>
            <a:ext cx="70485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800350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4150" y="3524250"/>
            <a:ext cx="498062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1E1E"/>
                </a:solidFill>
                <a:latin typeface="Montserrat"/>
              </a:rPr>
              <a:t>Palestras e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895725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64748B"/>
                </a:solidFill>
                <a:latin typeface="Open Sans"/>
              </a:rPr>
              <a:t>Sempre avisadas com antecedência e com inscrições abertas para recebimento de certificados de horas complementares.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572000"/>
            <a:ext cx="1895475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462" y="2952750"/>
            <a:ext cx="33337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9887" y="2952750"/>
            <a:ext cx="20002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075" y="476250"/>
            <a:ext cx="11171396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EVENTOS ACADÊMICOS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5100"/>
            <a:ext cx="2619375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705100"/>
            <a:ext cx="2619375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05100"/>
            <a:ext cx="2619375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705100"/>
            <a:ext cx="2619375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943225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571875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95725"/>
            <a:ext cx="21431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Liga Acadêmica Geral das Engenharias e TI: palestras, grupos de estudo e suporte aos estudantes.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2943225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9500" y="3571875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ANGELS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895725"/>
            <a:ext cx="21431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Programa que ajuda e orienta os alunos calouros a se localizarem e familiarizarem com o campus.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943225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9375" y="3571875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NEXUS 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895725"/>
            <a:ext cx="21431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Equipe que promove projetos, cursos, workshops e soluções tecnológicas práticas.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0" y="2943225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39250" y="3571875"/>
            <a:ext cx="22502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E1E"/>
                </a:solidFill>
                <a:latin typeface="Montserrat"/>
              </a:rPr>
              <a:t>ENACTUS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895725"/>
            <a:ext cx="21431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Equipe focada em empreendedorismo social e projetos de sustentabilidade comunitária.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076575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8562" y="3076575"/>
            <a:ext cx="2381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2725" y="3076575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2600" y="3076575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7275" y="476250"/>
            <a:ext cx="11091386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PROJETOS INSTITUCIONAIS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63430"/>
            <a:ext cx="173355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94619"/>
            <a:ext cx="56007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6B1D5C"/>
                </a:solidFill>
                <a:latin typeface="Montserrat"/>
              </a:rPr>
              <a:t>PEI - Pesquisa, Extensão e Internacionalização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85194"/>
            <a:ext cx="53340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Open Sans"/>
              </a:rPr>
              <a:t>Programa onde estudantes e professores podem se inscrever e participar ativamente de pesquisas de iniciação científica, bolsas acadêmicas, projetos de extensão, cursos de idiomas e intercâmbio.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38350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4272855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Open Sans"/>
              </a:rPr>
              <a:t>Bolsas de Estudo Santander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596705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Open Sans"/>
              </a:rPr>
              <a:t>Intercâmbios para Argentina, Espanha e outros países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18725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1095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63480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75" y="476250"/>
            <a:ext cx="11131391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PROGRAMAS ACADÊMICOS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55368"/>
            <a:ext cx="110490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7431"/>
            <a:ext cx="3555950" cy="2262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307431"/>
            <a:ext cx="3555950" cy="22621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307431"/>
            <a:ext cx="3556099" cy="22621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3400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7675" y="5017293"/>
            <a:ext cx="18669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Open Sans SemiBold"/>
              </a:rPr>
              <a:t>Acesse o portal do aluno: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4575" y="5017293"/>
            <a:ext cx="1809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C41230"/>
                </a:solidFill>
                <a:latin typeface="Open Sans"/>
              </a:rPr>
              <a:t>estudante.wyden.com.br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025" y="2545556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4308" y="3364706"/>
            <a:ext cx="14701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1E1E"/>
                </a:solidFill>
                <a:latin typeface="Montserrat"/>
              </a:rPr>
              <a:t>Minha Wyden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688556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Aplicativo mobile do estudante para acompanhar notas, frequência e avisos.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2476" y="2545556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0785" y="3364706"/>
            <a:ext cx="10501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1E1E"/>
                </a:solidFill>
                <a:latin typeface="Montserrat"/>
              </a:rPr>
              <a:t>Portal 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3688556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Sistema de Informações Acadêmicas para gestão de matrícula, requerimentos e financeiro.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075" y="2545556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62415" y="3364706"/>
            <a:ext cx="5600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1E1E"/>
                </a:solidFill>
                <a:latin typeface="Montserrat"/>
              </a:rPr>
              <a:t>SAVA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3688556"/>
            <a:ext cx="30798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Open Sans"/>
              </a:rPr>
              <a:t>Sala de Aula Virtual com conteúdos das disciplinas, exercícios e laboratórios.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401" y="2726531"/>
            <a:ext cx="3429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1950" y="2726531"/>
            <a:ext cx="3810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7275" y="476250"/>
            <a:ext cx="11091386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APLICATIVOS E SISTEMAS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438400"/>
            <a:ext cx="14287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50" y="2314575"/>
            <a:ext cx="29241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1E1E"/>
                </a:solidFill>
                <a:latin typeface="Open Sans Black"/>
              </a:rPr>
              <a:t>Problemas com boletos ou financeiro: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Open Sans"/>
              </a:rPr>
              <a:t>Secretaria / NAF — Andar -3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314700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425" y="3190875"/>
            <a:ext cx="41433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1E1E"/>
                </a:solidFill>
                <a:latin typeface="Open Sans Black"/>
              </a:rPr>
              <a:t>Problemas com grade de disciplinas (Coordenação):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Open Sans"/>
              </a:rPr>
              <a:t>Coordenadora Andrea Rezende — andrea.cirino@uniruy.edu.br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19100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4067175"/>
            <a:ext cx="6334125" cy="473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 err="1">
                <a:solidFill>
                  <a:srgbClr val="1E1E1E"/>
                </a:solidFill>
                <a:latin typeface="Open Sans Black"/>
              </a:rPr>
              <a:t>Dúvidas</a:t>
            </a:r>
            <a:r>
              <a:rPr sz="1275" b="0" i="0" u="none" dirty="0">
                <a:solidFill>
                  <a:srgbClr val="1E1E1E"/>
                </a:solidFill>
                <a:latin typeface="Open Sans Black"/>
              </a:rPr>
              <a:t> da </a:t>
            </a:r>
            <a:r>
              <a:rPr sz="1275" b="0" i="0" u="none" dirty="0" err="1">
                <a:solidFill>
                  <a:srgbClr val="1E1E1E"/>
                </a:solidFill>
                <a:latin typeface="Open Sans Black"/>
              </a:rPr>
              <a:t>disciplina</a:t>
            </a:r>
            <a:r>
              <a:rPr sz="1275" b="0" i="0" u="none" dirty="0">
                <a:solidFill>
                  <a:srgbClr val="1E1E1E"/>
                </a:solidFill>
                <a:latin typeface="Open Sans Black"/>
              </a:rPr>
              <a:t> de </a:t>
            </a:r>
            <a:r>
              <a:rPr sz="1275" b="0" i="0" u="none" dirty="0" err="1">
                <a:solidFill>
                  <a:srgbClr val="1E1E1E"/>
                </a:solidFill>
                <a:latin typeface="Open Sans Black"/>
              </a:rPr>
              <a:t>Segurança</a:t>
            </a:r>
            <a:r>
              <a:rPr sz="1275" b="0" i="0" u="none" dirty="0">
                <a:solidFill>
                  <a:srgbClr val="1E1E1E"/>
                </a:solidFill>
                <a:latin typeface="Open Sans Black"/>
              </a:rPr>
              <a:t> da </a:t>
            </a:r>
            <a:r>
              <a:rPr sz="1275" b="0" i="0" u="none" dirty="0" err="1">
                <a:solidFill>
                  <a:srgbClr val="1E1E1E"/>
                </a:solidFill>
                <a:latin typeface="Open Sans Black"/>
              </a:rPr>
              <a:t>Informação</a:t>
            </a:r>
            <a:r>
              <a:rPr sz="1275" b="0" i="0" u="none" dirty="0">
                <a:solidFill>
                  <a:srgbClr val="1E1E1E"/>
                </a:solidFill>
                <a:latin typeface="Open Sans Black"/>
              </a:rPr>
              <a:t>:</a:t>
            </a:r>
            <a:r>
              <a:rPr dirty="0"/>
              <a:t>
</a:t>
            </a:r>
            <a:r>
              <a:rPr sz="1275" b="0" i="0" u="none" dirty="0">
                <a:solidFill>
                  <a:srgbClr val="334155"/>
                </a:solidFill>
                <a:latin typeface="Open Sans"/>
              </a:rPr>
              <a:t>Prof. de </a:t>
            </a:r>
            <a:r>
              <a:rPr sz="1275" b="0" i="0" u="none" dirty="0" err="1">
                <a:solidFill>
                  <a:srgbClr val="334155"/>
                </a:solidFill>
                <a:latin typeface="Open Sans"/>
              </a:rPr>
              <a:t>Segurança</a:t>
            </a:r>
            <a:r>
              <a:rPr sz="1275" b="0" i="0" u="none" dirty="0">
                <a:solidFill>
                  <a:srgbClr val="334155"/>
                </a:solidFill>
                <a:latin typeface="Open Sans"/>
              </a:rPr>
              <a:t> da </a:t>
            </a:r>
            <a:r>
              <a:rPr sz="1275" b="0" i="0" u="none" dirty="0" err="1">
                <a:solidFill>
                  <a:srgbClr val="334155"/>
                </a:solidFill>
                <a:latin typeface="Open Sans"/>
              </a:rPr>
              <a:t>Informação</a:t>
            </a:r>
            <a:r>
              <a:rPr sz="1275" b="0" i="0" u="none" dirty="0">
                <a:solidFill>
                  <a:srgbClr val="334155"/>
                </a:solidFill>
                <a:latin typeface="Open Sans"/>
              </a:rPr>
              <a:t> — </a:t>
            </a:r>
            <a:r>
              <a:rPr lang="pt-BR" sz="1275" b="0" i="0" u="none" dirty="0" err="1">
                <a:solidFill>
                  <a:srgbClr val="334155"/>
                </a:solidFill>
                <a:latin typeface="Open Sans"/>
              </a:rPr>
              <a:t>vagner.pereira</a:t>
            </a:r>
            <a:r>
              <a:rPr sz="1275" b="0" i="0" u="none" dirty="0">
                <a:solidFill>
                  <a:srgbClr val="334155"/>
                </a:solidFill>
                <a:latin typeface="Open Sans"/>
              </a:rPr>
              <a:t>@professores.uniruy.edu.br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0673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475" y="4943475"/>
            <a:ext cx="43338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1E1E"/>
                </a:solidFill>
                <a:latin typeface="Open Sans Black"/>
              </a:rPr>
              <a:t>Dúvidas com salas, professores ou provas no polo (NAP):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Open Sans"/>
              </a:rPr>
              <a:t>NAP — Thaynah ou Alex — Andar 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76250"/>
            <a:ext cx="11131391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CONTATOS ÚTEIS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30754" y="3300412"/>
            <a:ext cx="3930491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6B1D5C"/>
                </a:solidFill>
                <a:latin typeface="Montserrat"/>
              </a:rP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2275" y="4281487"/>
            <a:ext cx="6267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Open Sans"/>
              </a:rPr>
              <a:t>Sejam muito bem-vindos e tenham um excelente semestre!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2109787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42950"/>
            <a:ext cx="304800" cy="30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828800"/>
            <a:ext cx="11049000" cy="1120065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828800"/>
          <a:ext cx="11039473" cy="11200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3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Semana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Unidade Temática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Conteúdo Programático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Atividade / Estratégia Prática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1: Princípios da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Apresentação da disciplina, plano de ensino, procedimentos de avaliação (AV/AVS), bibliografia e intro à SI.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Discussão inicial: O papel da Segurança da Informação no mercado e na sociedade.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1: Princípios da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Princípios fundamentais: Confidencialidade, Integridade e Disponibilidade (Tríade CID). Ciclo de vida da informação.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Mapeamento do ciclo de vida de dados em estudo de caso real.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1: Princípios da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Segurança Física vs. Segurança Lógica. Proteção de infraestrutura, perímetros, salas de servidores e controles lógicos.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Análise de vulnerabilidades físicas e lógicas em cenários corporativos.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1: Princípios da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Mecanismos de Controle de Acesso: Autenticação, Autorização, Auditoria e Princípio do Menor Privilégio.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Exercício prático: Definição de matriz de acessos e permissões.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2: Ameaças &amp; Riscos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Conceituação de Ameaça, Vulnerabilidade e Risco. Vetores de ataque e agentes causadores de risco.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Identificação e classificação de vulnerabilidades conhecidas.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2: Ataques Cibernéticos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Malwares (Vírus, Worms, Trojans, Ransomware, Spyware) e Engenharia Social (Phishing, Spear Phishing).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Análise de campanhas de phishing e estratégias de mitigação.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2: Ataques Cibernéticos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Ataques avançados: DoS/DDoS, Man-in-the-Middle, SQL Injection e referências do CERT.br.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Quiz interativo / Simulação de detecção e resposta a incidentes.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3: Normas de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Normas de Segurança da Informação: Finalidades, benefícios e visão geral da família ISO/IEC 27000 (27001 e 27002).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Leitura orientada e discussão sobre a implementação da ISO 27001.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3: Normas de 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Aplicação das Normas: Elaboração e estruturação de Políticas de Segurança da Informação (PSI).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Elaboração de rascunho de Política de Uso Aceitável (AUP).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3: Boas Práticas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Fator humano e segurança operacional: Gestão de senhas, conscientização, treinamento e higiene digital.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Proposição de campanha de conscientização em SI para colaboradores.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4: Proteção &amp; Backup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Proteção de Endpoints, Antivírus (EDR) e Gestão de Backups (Políticas, retenção e regra 3-2-1).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Planejamento de rotina de backup e recuperação de desastres.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4: Criptografia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Criptografia de Dados: Algoritmos Simétricos vs. Assimétricos, Funções Hash e verificação de integridade.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Exercício prático de cifragem/decifragem e verificação Hash.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4: Certificados Digitais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Certificados Digitais, Autoridades Certificadoras (AC), Assinatura Digital e navegação segura (HTTPS/SSL).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Validação e verificação de cadeia de certificados em ambiente web.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5: Gestão de Risco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Aprofundamento na Tríade CID, Não-repúdio (Irretratabilidade) e Autenticidade no impacto dos negócios.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Estudo de Caso: Análise dos impactos de um vazamento massivo de dados.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5: Gestão de Risco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Etapas da Gestão de Riscos: Identificação, Análise, Avaliação, Tratamento e Monitoramento de Riscos.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Construção de Matriz de Risco (Probabilidade x Impacto).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6: Continuidade (PCN)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Gestão de Continuidade do Negócio: Conceitos do PCN, BIA (Impacto no Negócio), RTO e RPO.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Definição das métricas RTO (Tempo) e RPO (Ponto de Recuperação).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6: Continuidade (PCN)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Etapas e componentes do PCN: Plano de Contingência, Resposta a Incidentes e DRP (Recuperação de Desastres).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Atividade Supervisionada: Elaboração da estrutura de um DRP em grupo.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Sem 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Módulo 6: Continuidade (PCN)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Plano de Gestão de Continuidade do Negócio (PGCN) e integração com o framework ITIL.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Estudo comparativo de condução de incidentes segundo a biblioteca ITIL.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33364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latin typeface="Open Sans"/>
                        </a:rPr>
                        <a:t>Sem 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475569"/>
                          </a:solidFill>
                          <a:latin typeface="Open Sans"/>
                        </a:rPr>
                        <a:t>Avaliação Oficial (AV)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475569"/>
                          </a:solidFill>
                          <a:latin typeface="Open Sans"/>
                        </a:rPr>
                        <a:t>Aplicação da Prova Presencial Oficial AV (PNI - Prova Nacional Integrada - 25/11).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475569"/>
                          </a:solidFill>
                          <a:latin typeface="Open Sans"/>
                        </a:rPr>
                        <a:t>Realização da Avaliação Oficial (AV).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533375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latin typeface="Open Sans"/>
                        </a:rPr>
                        <a:t>Sem 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475569"/>
                          </a:solidFill>
                          <a:latin typeface="Open Sans"/>
                        </a:rPr>
                        <a:t>Recuperação (AVS)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475569"/>
                          </a:solidFill>
                          <a:latin typeface="Open Sans"/>
                        </a:rPr>
                        <a:t>Devolutiva dos resultados e Prova Substitutiva Oficial AVS (02/12).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Open Sans"/>
                        </a:rPr>
                        <a:t>Fechamento das médias e encerramento do semestre.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799159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8750" y="2799159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3750" y="2799159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2076" y="2799159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345656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28750" y="3345656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3750" y="3345656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2076" y="3345656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3892153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28750" y="3892153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3750" y="3892153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2076" y="3892153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262" y="4438650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28750" y="4438650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3750" y="443865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2076" y="4438650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262" y="4985146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28750" y="4985146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33750" y="4985146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2076" y="4985146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262" y="5531643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28750" y="5531643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33750" y="5531643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2076" y="5531643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262" y="6078140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428750" y="6078140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33750" y="607814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2076" y="6078140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6262" y="6624637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28750" y="6624637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33750" y="6624637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2076" y="6624637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262" y="7171134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28750" y="7171134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33750" y="7171134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42076" y="7171134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6262" y="7717631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428750" y="7717631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33750" y="7717631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2076" y="7717631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6262" y="8264128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428750" y="8264128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333750" y="8264128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42076" y="8264128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76262" y="8810625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428750" y="8810625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33750" y="8810625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42076" y="8810625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76262" y="9357121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428750" y="9357121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333750" y="9357121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42076" y="9357121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6262" y="9903618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428750" y="9903618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333750" y="9903618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042076" y="9903618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76262" y="10450115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428750" y="10450115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333750" y="10450115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42076" y="10450115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76262" y="10996612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428750" y="10996612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333750" y="10996612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042076" y="10996612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76262" y="11543109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428750" y="11543109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333750" y="11543109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042076" y="11543109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76262" y="12089606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428750" y="12089606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333750" y="12089606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042076" y="12089606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76262" y="12636103"/>
            <a:ext cx="852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428750" y="12636103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333750" y="12636103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042076" y="12636103"/>
            <a:ext cx="3573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" y="2543770"/>
            <a:ext cx="485775" cy="200025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15" y="3038474"/>
            <a:ext cx="485775" cy="200025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" y="3529310"/>
            <a:ext cx="485775" cy="200025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8" y="4104083"/>
            <a:ext cx="485775" cy="200025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81" y="4637484"/>
            <a:ext cx="485775" cy="2000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844" y="5183981"/>
            <a:ext cx="485775" cy="20002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" y="5694386"/>
            <a:ext cx="485775" cy="2000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" y="6261794"/>
            <a:ext cx="485775" cy="200025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308" y="6808291"/>
            <a:ext cx="485775" cy="200025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043" y="7334244"/>
            <a:ext cx="552450" cy="200025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308" y="7880301"/>
            <a:ext cx="552450" cy="200025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043" y="8386761"/>
            <a:ext cx="552450" cy="200025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412" y="8973294"/>
            <a:ext cx="552450" cy="200025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412" y="9480946"/>
            <a:ext cx="552450" cy="200025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2" y="10047683"/>
            <a:ext cx="552450" cy="200025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412" y="10572749"/>
            <a:ext cx="552450" cy="200025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6715" y="11080253"/>
            <a:ext cx="552450" cy="200025"/>
          </a:xfrm>
          <a:prstGeom prst="rect">
            <a:avLst/>
          </a:prstGeom>
        </p:spPr>
      </p:pic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5682" y="11626750"/>
            <a:ext cx="552450" cy="200025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6043" y="12152263"/>
            <a:ext cx="552450" cy="200025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6043" y="12680156"/>
            <a:ext cx="552450" cy="200025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19175" y="476250"/>
            <a:ext cx="11131391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6B1D5C"/>
                </a:solidFill>
                <a:latin typeface="Montserrat"/>
              </a:rPr>
              <a:t>HORA DA AULA =) — CRONOGRAMA DE SEGURANÇA DA INFORMAÇÃO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71500" y="14287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1232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Calibri</vt:lpstr>
      <vt:lpstr>Montserrat</vt:lpstr>
      <vt:lpstr>Montserrat SemiBold</vt:lpstr>
      <vt:lpstr>Open Sans</vt:lpstr>
      <vt:lpstr>Open Sans Black</vt:lpstr>
      <vt:lpstr>Open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Vagner Oliveira</cp:lastModifiedBy>
  <cp:revision>2</cp:revision>
  <dcterms:created xsi:type="dcterms:W3CDTF">2013-01-27T09:14:16Z</dcterms:created>
  <dcterms:modified xsi:type="dcterms:W3CDTF">2026-08-06T13:43:15Z</dcterms:modified>
  <cp:category/>
</cp:coreProperties>
</file>